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Pure prediction</c:v>
                </c:pt>
              </c:strCache>
            </c:strRef>
          </c:tx>
          <c:spPr>
            <a:solidFill>
              <a:srgbClr val="8A8FA8"/>
            </a:solidFill>
            <a:ln w="38100" cap="flat">
              <a:solidFill>
                <a:srgbClr val="8A8F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8FA8"/>
              </a:solidFill>
              <a:ln w="9525" cap="flat">
                <a:solidFill>
                  <a:srgbClr val="8A8F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Yield leg (Kamino)</c:v>
                </c:pt>
              </c:strCache>
            </c:strRef>
          </c:tx>
          <c:spPr>
            <a:solidFill>
              <a:srgbClr val="C6FF3D"/>
            </a:solidFill>
            <a:ln w="38100" cap="flat">
              <a:solidFill>
                <a:srgbClr val="C6FF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6FF3D"/>
              </a:solidFill>
              <a:ln w="9525" cap="flat">
                <a:solidFill>
                  <a:srgbClr val="C6FF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0.27</c:v>
                </c:pt>
                <c:pt idx="2">
                  <c:v>0.54</c:v>
                </c:pt>
                <c:pt idx="3">
                  <c:v>0.81</c:v>
                </c:pt>
                <c:pt idx="4">
                  <c:v>1.08</c:v>
                </c:pt>
                <c:pt idx="5">
                  <c:v>1.35</c:v>
                </c:pt>
                <c:pt idx="6">
                  <c:v>1.62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Foresight combined</c:v>
                </c:pt>
              </c:strCache>
            </c:strRef>
          </c:tx>
          <c:spPr>
            <a:solidFill>
              <a:srgbClr val="F4F1EA"/>
            </a:solidFill>
            <a:ln w="38100" cap="flat">
              <a:solidFill>
                <a:srgbClr val="F4F1E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F1EA"/>
              </a:solidFill>
              <a:ln w="9525" cap="flat">
                <a:solidFill>
                  <a:srgbClr val="F4F1E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0.27</c:v>
                </c:pt>
                <c:pt idx="2">
                  <c:v>0.54</c:v>
                </c:pt>
                <c:pt idx="3">
                  <c:v>0.81</c:v>
                </c:pt>
                <c:pt idx="4">
                  <c:v>1.08</c:v>
                </c:pt>
                <c:pt idx="5">
                  <c:v>1.35</c:v>
                </c:pt>
                <c:pt idx="6">
                  <c:v>1.62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A8FA8"/>
                    </a:solidFill>
                    <a:latin typeface="Consolas"/>
                  </a:defRPr>
                </a:pPr>
                <a:r>
                  <a:rPr sz="900" b="0" i="0" u="none" strike="noStrike">
                    <a:solidFill>
                      <a:srgbClr val="8A8FA8"/>
                    </a:solidFill>
                    <a:latin typeface="Consolas"/>
                  </a:rPr>
                  <a:t>Months until market resolves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FA8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F4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A8FA8"/>
                    </a:solidFill>
                    <a:latin typeface="Consolas"/>
                  </a:defRPr>
                </a:pPr>
                <a:r>
                  <a:rPr sz="900" b="0" i="0" u="none" strike="noStrike">
                    <a:solidFill>
                      <a:srgbClr val="8A8FA8"/>
                    </a:solidFill>
                    <a:latin typeface="Consolas"/>
                  </a:rPr>
                  <a:t>Accrued yield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FA8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A26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A8FA8"/>
              </a:solidFill>
              <a:latin typeface="Consolas"/>
              <a:cs typeface="Consolas"/>
            </a:defRPr>
          </a:pPr>
          <a:endParaRPr lang="en-US"/>
        </a:p>
      </c:txPr>
    </c:legend>
    <c:plotVisOnly val="1"/>
    <c:dispBlanksAs val="span"/>
  </c:chart>
  <c:spPr>
    <a:solidFill>
      <a:srgbClr val="171A26"/>
    </a:solidFill>
    <a:ln w="12700" cap="flat">
      <a:solidFill>
        <a:srgbClr val="2A2F45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859536"/>
            <a:ext cx="12161520" cy="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719072"/>
            <a:ext cx="12161520" cy="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578608"/>
            <a:ext cx="12161520" cy="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438144"/>
            <a:ext cx="12161520" cy="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297680"/>
            <a:ext cx="12161520" cy="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57216"/>
            <a:ext cx="12161520" cy="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016752"/>
            <a:ext cx="12161520" cy="0"/>
          </a:xfrm>
          <a:prstGeom prst="line">
            <a:avLst/>
          </a:prstGeom>
          <a:noFill/>
          <a:ln w="6350">
            <a:solidFill>
              <a:srgbClr val="2A2F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WITH EITHERWAY · SOLANA FRONTIER HACKATHON ·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1554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Foresight.</a:t>
            </a:r>
            <a:endParaRPr lang="en-US" sz="12400" dirty="0"/>
          </a:p>
        </p:txBody>
      </p:sp>
      <p:sp>
        <p:nvSpPr>
          <p:cNvPr id="26" name="Text 24"/>
          <p:cNvSpPr/>
          <p:nvPr/>
        </p:nvSpPr>
        <p:spPr>
          <a:xfrm>
            <a:off x="731520" y="3931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 yield </a:t>
            </a:r>
            <a:pPr indent="0" marL="0">
              <a:buNone/>
            </a:pPr>
            <a:r>
              <a:rPr lang="en-US" sz="3800" i="1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 you wait </a:t>
            </a:r>
            <a:pPr indent="0" marL="0">
              <a:buNone/>
            </a:pPr>
            <a:r>
              <a:rPr lang="en-US" sz="3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future.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731520" y="4937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composable layer on top of tokenized prediction markets on Solana.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520" y="5943600"/>
            <a:ext cx="10698480" cy="0"/>
          </a:xfrm>
          <a:prstGeom prst="line">
            <a:avLst/>
          </a:prstGeom>
          <a:noFill/>
          <a:ln w="12700">
            <a:solidFill>
              <a:srgbClr val="2A2F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126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POWERED BY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61264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DFlow · Kamino · Solflare · QuickNode · Eitherway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/01  THE OPENING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December 1, 2025,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DFlow tokenized every Kalshi market as a real SPL token on Solana.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every "Will Bitcoin close above $100K by year-end?" is now just </a:t>
            </a:r>
            <a:pPr indent="0" marL="0">
              <a:buNone/>
            </a:pPr>
            <a:r>
              <a:rPr lang="en-US" sz="1800" i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</a:t>
            </a:r>
            <a:pPr indent="0" marL="0"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can be transferred. It can be lent against. It can be LP'd. It can sit in a vault.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2606040" cy="1097280"/>
          </a:xfrm>
          <a:prstGeom prst="rect">
            <a:avLst/>
          </a:prstGeom>
          <a:solidFill>
            <a:srgbClr val="171A26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303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$33B+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68680" y="5897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DFlow volume since Apr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5212080"/>
            <a:ext cx="2606040" cy="1097280"/>
          </a:xfrm>
          <a:prstGeom prst="rect">
            <a:avLst/>
          </a:prstGeom>
          <a:solidFill>
            <a:srgbClr val="171A26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5303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703320" y="5897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 out to app developers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5212080"/>
            <a:ext cx="2606040" cy="1097280"/>
          </a:xfrm>
          <a:prstGeom prst="rect">
            <a:avLst/>
          </a:prstGeom>
          <a:solidFill>
            <a:srgbClr val="171A26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5303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537960" y="5897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Kalshi grants program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35440" y="5212080"/>
            <a:ext cx="2606040" cy="1097280"/>
          </a:xfrm>
          <a:prstGeom prst="rect">
            <a:avLst/>
          </a:prstGeom>
          <a:solidFill>
            <a:srgbClr val="171A26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5303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372600" y="5897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Integrations lined up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/02  THE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has built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composability on top of it yet.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currently using the DFlow Prediction Markets API is a frontend for buying and selling outcome tokens. That's useful — but it's not composition. It's just a nicer Kalshi.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663440"/>
            <a:ext cx="2606040" cy="1371600"/>
          </a:xfrm>
          <a:prstGeom prst="rect">
            <a:avLst/>
          </a:prstGeom>
          <a:solidFill>
            <a:srgbClr val="171A26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937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A8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Kalshi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532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regulated off-chain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4663440"/>
            <a:ext cx="2606040" cy="1371600"/>
          </a:xfrm>
          <a:prstGeom prst="rect">
            <a:avLst/>
          </a:prstGeom>
          <a:solidFill>
            <a:srgbClr val="171A26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4937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A8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DFlow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49040" y="5532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tokenization layer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4663440"/>
            <a:ext cx="2606040" cy="1371600"/>
          </a:xfrm>
          <a:prstGeom prst="rect">
            <a:avLst/>
          </a:prstGeom>
          <a:solidFill>
            <a:srgbClr val="171A26"/>
          </a:solidFill>
          <a:ln w="25400">
            <a:solidFill>
              <a:srgbClr val="C6FF3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583680" y="4937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??????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83680" y="5532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composable layer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35440" y="4663440"/>
            <a:ext cx="2606040" cy="1371600"/>
          </a:xfrm>
          <a:prstGeom prst="rect">
            <a:avLst/>
          </a:prstGeom>
          <a:solidFill>
            <a:srgbClr val="171A26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4937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A8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apps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418320" y="5532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 with real SPL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72200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006840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/03  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Foresight is 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i="1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prediction-market yield vault.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deposit. Two engines. The simplest possible composition.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5486400" cy="2377440"/>
          </a:xfrm>
          <a:prstGeom prst="rect">
            <a:avLst/>
          </a:prstGeom>
          <a:solidFill>
            <a:srgbClr val="171A26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 1 · PREDICTION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4434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 tokens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05840" y="5029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your USDC buys Yes or No outcome tokens via DFlow. If you're right, redeem $1 per token at resolution.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5989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DFlow Trade 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3931920"/>
            <a:ext cx="4754880" cy="2377440"/>
          </a:xfrm>
          <a:prstGeom prst="rect">
            <a:avLst/>
          </a:prstGeom>
          <a:solidFill>
            <a:srgbClr val="171A26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4114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 2 · YIELD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0" y="4434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Idle capital, working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49440" y="5029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remainder sweeps into Kamino's USDC Main Market, earning supply APY and reward emissions for the entire duration of the market.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5989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Kamino klend-sdk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/04  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flow.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3657600" cy="3017520"/>
          </a:xfrm>
          <a:prstGeom prst="rect">
            <a:avLst/>
          </a:prstGeom>
          <a:solidFill>
            <a:srgbClr val="171A26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749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market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thousands of Kalshi markets — sports, politics, crypto, weather. Every Yes/No is a real SPL token.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3017520"/>
            <a:ext cx="3657600" cy="3017520"/>
          </a:xfrm>
          <a:prstGeom prst="rect">
            <a:avLst/>
          </a:prstGeom>
          <a:solidFill>
            <a:srgbClr val="171A26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3749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your deposit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0060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slider: how much into the prediction, how much into Kamino yield. See projected tokens + projected APY live.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3017520"/>
            <a:ext cx="3657600" cy="3017520"/>
          </a:xfrm>
          <a:prstGeom prst="rect">
            <a:avLst/>
          </a:prstGeom>
          <a:solidFill>
            <a:srgbClr val="171A26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0" y="3749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Sign, then wait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59536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signatures, two transactions — one DFlow mint, one Kamino deposit. Your idle half compounds until resolution.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/05  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window 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for about six months.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DFlow's Prediction Markets API shipped three months ago. Most of the 100+ integrations they announced are still in development. The first few products that nail composability will define the category — exactly like pump.fun and Jupiter did in their moments.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80160" y="5440680"/>
            <a:ext cx="9601200" cy="0"/>
          </a:xfrm>
          <a:prstGeom prst="line">
            <a:avLst/>
          </a:prstGeom>
          <a:noFill/>
          <a:ln w="25400">
            <a:solidFill>
              <a:srgbClr val="2A2F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5349240"/>
            <a:ext cx="182880" cy="182880"/>
          </a:xfrm>
          <a:prstGeom prst="ellipse">
            <a:avLst/>
          </a:prstGeom>
          <a:solidFill>
            <a:srgbClr val="8A8FA8"/>
          </a:solidFill>
          <a:ln w="12700">
            <a:solidFill>
              <a:srgbClr val="0A0B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 2025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5669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DFlow API ships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89020" y="5349240"/>
            <a:ext cx="182880" cy="182880"/>
          </a:xfrm>
          <a:prstGeom prst="ellipse">
            <a:avLst/>
          </a:prstGeom>
          <a:solidFill>
            <a:srgbClr val="8A8FA8"/>
          </a:solidFill>
          <a:ln w="12700">
            <a:solidFill>
              <a:srgbClr val="0A0B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7500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74620" y="5669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wave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5349240"/>
            <a:ext cx="182880" cy="182880"/>
          </a:xfrm>
          <a:prstGeom prst="ellipse">
            <a:avLst/>
          </a:prstGeom>
          <a:solidFill>
            <a:srgbClr val="C6FF3D"/>
          </a:solidFill>
          <a:ln w="12700">
            <a:solidFill>
              <a:srgbClr val="0A0B0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4920" y="5669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Foresight ships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89620" y="5349240"/>
            <a:ext cx="182880" cy="182880"/>
          </a:xfrm>
          <a:prstGeom prst="ellipse">
            <a:avLst/>
          </a:prstGeom>
          <a:solidFill>
            <a:srgbClr val="8A8FA8"/>
          </a:solidFill>
          <a:ln w="12700">
            <a:solidFill>
              <a:srgbClr val="0A0B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58100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75220" y="5669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defined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789920" y="5349240"/>
            <a:ext cx="182880" cy="182880"/>
          </a:xfrm>
          <a:prstGeom prst="ellipse">
            <a:avLst/>
          </a:prstGeom>
          <a:solidFill>
            <a:srgbClr val="8A8FA8"/>
          </a:solidFill>
          <a:ln w="12700">
            <a:solidFill>
              <a:srgbClr val="0A0B0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0" y="5669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Incumbents lock in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/06  COMPETITIVE 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not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competing with DFlow or Kamino.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drive volume into both. Every Foresight deposit is a DFlow trade and a Kamino deposit. The more people we bring in, the more TVL flows through their protocols.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663440"/>
          <a:ext cx="106984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194560"/>
                <a:gridCol w="2194560"/>
                <a:gridCol w="2194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8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DFlow direct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8F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Kalshi.com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FF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Foresight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Kalshi liquidity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6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6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6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On-chain SPL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6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6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on idle capital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 with DeFi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/07  WHAT IT'S WORTH TO A USER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math,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 realistic position.</a:t>
            </a:r>
            <a:endParaRPr lang="en-US" sz="4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2926080"/>
          <a:ext cx="6858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046720" y="2926080"/>
            <a:ext cx="3383280" cy="3200400"/>
          </a:xfrm>
          <a:prstGeom prst="rect">
            <a:avLst/>
          </a:prstGeom>
          <a:solidFill>
            <a:srgbClr val="171A26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a $1,000 deposit.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50/50 split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0" y="4023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Kamino at 6.4% APY for six months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4892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+$16.20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8229600" y="5486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yield, entirely independent of whether the prediction wins.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/08  WHY THIS WINS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of four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i="1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sponsors integrated. One product.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91440" cy="502920"/>
          </a:xfrm>
          <a:prstGeom prst="rect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DFlow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0" y="32004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markets API + Trade API + CLP polling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src/lib/dflow.ts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822192"/>
            <a:ext cx="91440" cy="502920"/>
          </a:xfrm>
          <a:prstGeom prst="rect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8221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Kamino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38221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klend-sdk for deposit / withdraw / APY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38221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src/lib/kamino.ts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443984"/>
            <a:ext cx="91440" cy="502920"/>
          </a:xfrm>
          <a:prstGeom prst="rect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4439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Solflare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91840" y="444398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adapter (first-class)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0" y="44439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src/components/SolanaProvider.tsx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5065776"/>
            <a:ext cx="91440" cy="502920"/>
          </a:xfrm>
          <a:prstGeom prst="rect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0657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QuickNode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91840" y="506577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RPC (Kamino needs it)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0" y="506577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.env.example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5687568"/>
            <a:ext cx="91440" cy="502920"/>
          </a:xfrm>
          <a:prstGeom prst="rect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687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Eitherway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291840" y="56875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 from a single prompt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95360" y="5687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pitch/eitherway-prompt.md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/09 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is the primitive.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i="1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else is built on top.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2024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3017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Two-leg vault. DFlow mint + Kamino deposit. Full UI, live on mainnet.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393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0240" y="36393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 weeks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36393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Jito bundle — both legs land in the same slot. Atomic position opens and closes.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2611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20240" y="426110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 weeks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426110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tokens as Kamino collateral. Borrow against open positions, scale into convictions.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8828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20240" y="488289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48828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vaults. "Long all 2026 FOMC cut markets + earn idle yield" as a single deposit.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5046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920240" y="55046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55046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hedged strategies. Delta-neutral prediction LPing, correlated-market pairs.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2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3810">
            <a:solidFill>
              <a:srgbClr val="2A2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3810">
            <a:solidFill>
              <a:srgbClr val="2A2F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3810">
            <a:solidFill>
              <a:srgbClr val="2A2F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3810">
            <a:solidFill>
              <a:srgbClr val="2A2F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3810">
            <a:solidFill>
              <a:srgbClr val="2A2F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3810">
            <a:solidFill>
              <a:srgbClr val="2A2F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2A2F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3810">
            <a:solidFill>
              <a:srgbClr val="2A2F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3810">
            <a:solidFill>
              <a:srgbClr val="2A2F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3810">
            <a:solidFill>
              <a:srgbClr val="2A2F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3810">
            <a:solidFill>
              <a:srgbClr val="2A2F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3810">
            <a:solidFill>
              <a:srgbClr val="2A2F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2A2F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C6F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FORESIGHT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 yield</a:t>
            </a:r>
            <a:endParaRPr lang="en-US" sz="9600" dirty="0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i="1" dirty="0">
                <a:solidFill>
                  <a:srgbClr val="C6F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 you wait</a:t>
            </a:r>
            <a:endParaRPr lang="en-US" sz="96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future.</a:t>
            </a:r>
            <a:endParaRPr lang="en-US" sz="9600" dirty="0"/>
          </a:p>
        </p:txBody>
      </p:sp>
      <p:sp>
        <p:nvSpPr>
          <p:cNvPr id="20" name="Shape 18"/>
          <p:cNvSpPr/>
          <p:nvPr/>
        </p:nvSpPr>
        <p:spPr>
          <a:xfrm>
            <a:off x="731520" y="5669280"/>
            <a:ext cx="10698480" cy="0"/>
          </a:xfrm>
          <a:prstGeom prst="line">
            <a:avLst/>
          </a:prstGeom>
          <a:noFill/>
          <a:ln w="12700">
            <a:solidFill>
              <a:srgbClr val="2A2F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foresight.app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8912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github.com/foresight-fi · @foresight_fi · built with eitherway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Foresight — Solana Frontier Hackathon</dc:title>
  <dc:subject>PptxGenJS Presentation</dc:subject>
  <dc:creator>Foresight</dc:creator>
  <cp:lastModifiedBy>Foresight</cp:lastModifiedBy>
  <cp:revision>1</cp:revision>
  <dcterms:created xsi:type="dcterms:W3CDTF">2026-04-17T00:00:59Z</dcterms:created>
  <dcterms:modified xsi:type="dcterms:W3CDTF">2026-04-17T00:00:59Z</dcterms:modified>
</cp:coreProperties>
</file>